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BLUESTOCK MUTUAL FUND ANALYTICS</a:t>
            </a:r>
          </a:p>
          <a:p>
            <a:pPr algn="ctr">
              <a:defRPr sz="2000"/>
            </a:pPr>
            <a:r>
              <a:t>End-to-End Analytics Project</a:t>
            </a:r>
          </a:p>
          <a:p>
            <a:pPr algn="ctr">
              <a:defRPr sz="1400"/>
            </a:pPr>
            <a:r>
              <a:t>ETL • EDA • Performance • Power BI • Advanced Risk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Problem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Build a reproducible mutual-fund analytics pipeline from raw CSV data to decision-support dashboards.</a:t>
            </a:r>
          </a:p>
          <a:p>
            <a:pPr>
              <a:spcAft>
                <a:spcPts val="1200"/>
              </a:spcAft>
              <a:defRPr sz="1800"/>
            </a:pPr>
            <a:r>
              <a:t>Measure return, risk, Alpha/Beta, drawdown and composite fund scores across 40 schemes.</a:t>
            </a:r>
          </a:p>
          <a:p>
            <a:pPr>
              <a:spcAft>
                <a:spcPts val="1200"/>
              </a:spcAft>
              <a:defRPr sz="1800"/>
            </a:pPr>
            <a:r>
              <a:t>Analyze investor behavior, SIP trends, AUM, folios, category flows and portfolio concentration.</a:t>
            </a:r>
          </a:p>
          <a:p>
            <a:pPr>
              <a:spcAft>
                <a:spcPts val="1200"/>
              </a:spcAft>
              <a:defRPr sz="1800"/>
            </a:pPr>
            <a:r>
              <a:t>Deliver an interactive Power BI dashboard plus a professional report and presentation.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Data Sources and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10 processed datasets: fund master, NAV, AUM, SIP inflows, category inflows, folios, performance, transactions, holdings and benchmarks.</a:t>
            </a:r>
          </a:p>
          <a:p>
            <a:pPr>
              <a:spcAft>
                <a:spcPts val="1200"/>
              </a:spcAft>
              <a:defRPr sz="1600"/>
            </a:pPr>
            <a:r>
              <a:t>Scope: 40 schemes, 46,000 NAV observations, 32,778 investor transactions and NIFTY benchmark series.</a:t>
            </a:r>
          </a:p>
          <a:p>
            <a:pPr>
              <a:spcAft>
                <a:spcPts val="1200"/>
              </a:spcAft>
              <a:defRPr sz="1600"/>
            </a:pPr>
            <a:r>
              <a:t>Data period is primarily 2022–2025/May 2026 depending on dataset.</a:t>
            </a:r>
          </a:p>
          <a:p>
            <a:pPr>
              <a:spcAft>
                <a:spcPts val="1200"/>
              </a:spcAft>
              <a:defRPr sz="1600"/>
            </a:pPr>
            <a:r>
              <a:t>Live NAV ingestion is supported through MFAPI.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ETL and 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Raw CSVs → cleaning/validation → processed CSVs → SQLite analytical layer → notebooks → Power BI dashboard.</a:t>
            </a:r>
          </a:p>
          <a:p>
            <a:pPr>
              <a:spcAft>
                <a:spcPts val="1200"/>
              </a:spcAft>
              <a:defRPr sz="1600"/>
            </a:pPr>
            <a:r>
              <a:t>AMFI codes provide the fund-level key; dates provide the time-series key.</a:t>
            </a:r>
          </a:p>
          <a:p>
            <a:pPr>
              <a:spcAft>
                <a:spcPts val="1200"/>
              </a:spcAft>
              <a:defRPr sz="1600"/>
            </a:pPr>
            <a:r>
              <a:t>Validation includes duplicate removal, date parsing, positive NAV/amount checks and scheme-code consistency.</a:t>
            </a:r>
          </a:p>
          <a:p>
            <a:pPr>
              <a:spcAft>
                <a:spcPts val="1200"/>
              </a:spcAft>
              <a:defRPr sz="1600"/>
            </a:pPr>
            <a:r>
              <a:t>Data-quality limitations are documented rather than hidden.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EDA Highlights — NAV and AUM</a:t>
            </a:r>
          </a:p>
        </p:txBody>
      </p:sp>
      <p:pic>
        <p:nvPicPr>
          <p:cNvPr id="3" name="Picture 2" descr="01_NA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40 schemes are tracked in the supplied NAV history.</a:t>
            </a:r>
          </a:p>
          <a:p>
            <a:pPr>
              <a:spcAft>
                <a:spcPts val="1200"/>
              </a:spcAft>
              <a:defRPr sz="1400"/>
            </a:pPr>
            <a:r>
              <a:t>SBI is the largest fund-house AUM snapshot in the supplied data.</a:t>
            </a:r>
          </a:p>
          <a:p>
            <a:pPr>
              <a:spcAft>
                <a:spcPts val="1200"/>
              </a:spcAft>
              <a:defRPr sz="1400"/>
            </a:pPr>
            <a:r>
              <a:t>Daily NAV analysis provides the base for return and drawdown calculations.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EDA Highlights — SIP, Investors and Folios</a:t>
            </a:r>
          </a:p>
        </p:txBody>
      </p:sp>
      <p:pic>
        <p:nvPicPr>
          <p:cNvPr id="3" name="Picture 2" descr="04_Catego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400800" cy="25768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4630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SIP inflow peaks at ₹31,002 crore in Dec 2025.</a:t>
            </a:r>
          </a:p>
          <a:p>
            <a:pPr>
              <a:spcAft>
                <a:spcPts val="1200"/>
              </a:spcAft>
              <a:defRPr sz="1400"/>
            </a:pPr>
            <a:r>
              <a:t>Folios rise from 13.26 Cr to 26.12 Cr.</a:t>
            </a:r>
          </a:p>
          <a:p>
            <a:pPr>
              <a:spcAft>
                <a:spcPts val="1200"/>
              </a:spcAft>
              <a:defRPr sz="1400"/>
            </a:pPr>
            <a:r>
              <a:t>Investor views include age, gender, state and T30/B30 segmentation.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Fund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Daily returns: NAV_t / NAV_t-1 − 1.</a:t>
            </a:r>
          </a:p>
          <a:p>
            <a:pPr>
              <a:spcAft>
                <a:spcPts val="1200"/>
              </a:spcAft>
              <a:defRPr sz="1600"/>
            </a:pPr>
            <a:r>
              <a:t>Sharpe: excess return divided by daily-return volatility, annualized with √252 and a 6.5% risk-free proxy.</a:t>
            </a:r>
          </a:p>
          <a:p>
            <a:pPr>
              <a:spcAft>
                <a:spcPts val="1200"/>
              </a:spcAft>
              <a:defRPr sz="1600"/>
            </a:pPr>
            <a:r>
              <a:t>Sortino uses downside volatility from negative-return days.</a:t>
            </a:r>
          </a:p>
          <a:p>
            <a:pPr>
              <a:spcAft>
                <a:spcPts val="1200"/>
              </a:spcAft>
              <a:defRPr sz="1600"/>
            </a:pPr>
            <a:r>
              <a:t>Alpha/Beta: OLS regression against NIFTY 100 using scipy.stats.linregress.</a:t>
            </a:r>
          </a:p>
          <a:p>
            <a:pPr>
              <a:spcAft>
                <a:spcPts val="1200"/>
              </a:spcAft>
              <a:defRPr sz="1600"/>
            </a:pPr>
            <a:r>
              <a:t>Maximum drawdown is the minimum NAV decline from the running peak.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Fund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3Y CAGR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ICICI Pru Midcap Fund - Regular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84.50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Axis Midcap Fund - Regular - Growt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81.25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Mirae Asset Large Cap Fund - Regul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80.50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HDFC Mid-Cap Opportunities Fund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Kotak Flexicap Fund - Regular - 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Dashboard — Industry Overview</a:t>
            </a:r>
          </a:p>
        </p:txBody>
      </p:sp>
      <p:pic>
        <p:nvPicPr>
          <p:cNvPr id="3" name="Picture 2" descr="0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63872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Dashboard — Fund Performance</a:t>
            </a:r>
          </a:p>
        </p:txBody>
      </p:sp>
      <p:pic>
        <p:nvPicPr>
          <p:cNvPr id="3" name="Picture 2" descr="02_fund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63872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Advanced Analytics and Risk</a:t>
            </a:r>
          </a:p>
        </p:txBody>
      </p:sp>
      <p:pic>
        <p:nvPicPr>
          <p:cNvPr id="3" name="Picture 2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/>
            </a:pPr>
            <a:r>
              <a:t>95% VaR and CVaR quantify downside tail risk.</a:t>
            </a:r>
          </a:p>
          <a:p>
            <a:pPr>
              <a:spcAft>
                <a:spcPts val="1200"/>
              </a:spcAft>
              <a:defRPr sz="1300"/>
            </a:pPr>
            <a:r>
              <a:t>SIP continuity flags gaps above 35 days for investors with 6+ SIPs.</a:t>
            </a:r>
          </a:p>
          <a:p>
            <a:pPr>
              <a:spcAft>
                <a:spcPts val="1200"/>
              </a:spcAft>
              <a:defRPr sz="1300"/>
            </a:pPr>
            <a:r>
              <a:t>Sector HHI measures concentration across equity-fund holdings.</a:t>
            </a:r>
          </a:p>
          <a:p>
            <a:pPr>
              <a:spcAft>
                <a:spcPts val="1200"/>
              </a:spcAft>
              <a:defRPr sz="1300"/>
            </a:pPr>
            <a:r>
              <a:t>A simple recommender ranks funds by Sharpe within Low/Moderate/High risk grades.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Key Findings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Top composite score: ICICI Pru Midcap Fund - Regular - Growth (84.50/100).</a:t>
            </a:r>
          </a:p>
          <a:p>
            <a:pPr>
              <a:spcAft>
                <a:spcPts val="1200"/>
              </a:spcAft>
              <a:defRPr sz="1600"/>
            </a:pPr>
            <a:r>
              <a:t>Dec 2025 SIP inflow reaches ₹31,002 crore and folios reach 26.12 crore.</a:t>
            </a:r>
          </a:p>
          <a:p>
            <a:pPr>
              <a:spcAft>
                <a:spcPts val="1200"/>
              </a:spcAft>
              <a:defRPr sz="1600"/>
            </a:pPr>
            <a:r>
              <a:t>Use fund score, drawdown, benchmark tracking and risk metrics together rather than relying on one measure.</a:t>
            </a:r>
          </a:p>
          <a:p>
            <a:pPr>
              <a:spcAft>
                <a:spcPts val="1200"/>
              </a:spcAft>
              <a:defRPr sz="1600"/>
            </a:pPr>
            <a:r>
              <a:t>Next step: complete the native Power BI interactive edits, save the PBIX, and export the final Power BI PDF/PNG pages.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